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4B0082"/>
                </a:solidFill>
              </a:defRPr>
            </a:pPr>
            <a:r>
              <a:t>Revenue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dPt>
            <c:idx val="6"/>
            <c:spPr>
              <a:solidFill>
                <a:srgbClr val="4B0082"/>
              </a:solidFill>
            </c:spPr>
          </c:dPt>
          <c:dPt>
            <c:idx val="7"/>
            <c:spPr>
              <a:solidFill>
                <a:srgbClr val="4B0082"/>
              </a:solidFill>
            </c:spPr>
          </c:dPt>
          <c:dPt>
            <c:idx val="8"/>
            <c:spPr>
              <a:solidFill>
                <a:srgbClr val="4B0082"/>
              </a:solidFill>
            </c:spPr>
          </c:dPt>
          <c:dPt>
            <c:idx val="9"/>
            <c:spPr>
              <a:solidFill>
                <a:srgbClr val="4B0082"/>
              </a:solidFill>
            </c:spPr>
          </c:dPt>
          <c:dPt>
            <c:idx val="10"/>
            <c:spPr>
              <a:solidFill>
                <a:srgbClr val="4B0082"/>
              </a:solidFill>
            </c:spPr>
          </c:dPt>
          <c:dPt>
            <c:idx val="11"/>
            <c:spPr>
              <a:solidFill>
                <a:srgbClr val="4B0082"/>
              </a:solidFill>
            </c:spPr>
          </c:dPt>
          <c:cat>
            <c:strRef>
              <c:f>Sheet1!$A$2:$A$13</c:f>
              <c:strCache>
                <c:ptCount val="12"/>
                <c:pt idx="0">
                  <c:v>FY14</c:v>
                </c:pt>
                <c:pt idx="1">
                  <c:v>FY15</c:v>
                </c:pt>
                <c:pt idx="2">
                  <c:v>FY16</c:v>
                </c:pt>
                <c:pt idx="3">
                  <c:v>FY17</c:v>
                </c:pt>
                <c:pt idx="4">
                  <c:v>FY18</c:v>
                </c:pt>
                <c:pt idx="5">
                  <c:v>FY19</c:v>
                </c:pt>
                <c:pt idx="6">
                  <c:v>FY20</c:v>
                </c:pt>
                <c:pt idx="7">
                  <c:v>FY21</c:v>
                </c:pt>
                <c:pt idx="8">
                  <c:v>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42.518186299999996</c:v>
                </c:pt>
                <c:pt idx="1">
                  <c:v>48.79970169999999</c:v>
                </c:pt>
                <c:pt idx="2">
                  <c:v>40.4481418</c:v>
                </c:pt>
                <c:pt idx="3">
                  <c:v>70.324</c:v>
                </c:pt>
                <c:pt idx="4">
                  <c:v>78.10600000000001</c:v>
                </c:pt>
                <c:pt idx="5">
                  <c:v>93.039</c:v>
                </c:pt>
                <c:pt idx="6">
                  <c:v>88.32639999999999</c:v>
                </c:pt>
                <c:pt idx="7">
                  <c:v>81.743</c:v>
                </c:pt>
                <c:pt idx="8">
                  <c:v>77.994</c:v>
                </c:pt>
                <c:pt idx="9">
                  <c:v>92.29690000000001</c:v>
                </c:pt>
                <c:pt idx="10">
                  <c:v>109.08200000000001</c:v>
                </c:pt>
                <c:pt idx="11">
                  <c:v>115.5417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4B0082"/>
                </a:solidFill>
              </a:defRPr>
            </a:pPr>
            <a:r>
              <a:t>EBITDA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dPt>
            <c:idx val="6"/>
            <c:spPr>
              <a:solidFill>
                <a:srgbClr val="4B0082"/>
              </a:solidFill>
            </c:spPr>
          </c:dPt>
          <c:dPt>
            <c:idx val="7"/>
            <c:spPr>
              <a:solidFill>
                <a:srgbClr val="4B0082"/>
              </a:solidFill>
            </c:spPr>
          </c:dPt>
          <c:dPt>
            <c:idx val="8"/>
            <c:spPr>
              <a:solidFill>
                <a:srgbClr val="4B0082"/>
              </a:solidFill>
            </c:spPr>
          </c:dPt>
          <c:dPt>
            <c:idx val="9"/>
            <c:spPr>
              <a:solidFill>
                <a:srgbClr val="4B0082"/>
              </a:solidFill>
            </c:spPr>
          </c:dPt>
          <c:dPt>
            <c:idx val="10"/>
            <c:spPr>
              <a:solidFill>
                <a:srgbClr val="4B0082"/>
              </a:solidFill>
            </c:spPr>
          </c:dPt>
          <c:dPt>
            <c:idx val="11"/>
            <c:spPr>
              <a:solidFill>
                <a:srgbClr val="4B0082"/>
              </a:solidFill>
            </c:spPr>
          </c:dPt>
          <c:cat>
            <c:strRef>
              <c:f>Sheet1!$A$2:$A$13</c:f>
              <c:strCache>
                <c:ptCount val="12"/>
                <c:pt idx="0">
                  <c:v>FY14</c:v>
                </c:pt>
                <c:pt idx="1">
                  <c:v>FY15</c:v>
                </c:pt>
                <c:pt idx="2">
                  <c:v>FY16</c:v>
                </c:pt>
                <c:pt idx="3">
                  <c:v>FY17</c:v>
                </c:pt>
                <c:pt idx="4">
                  <c:v>FY18</c:v>
                </c:pt>
                <c:pt idx="5">
                  <c:v>FY19</c:v>
                </c:pt>
                <c:pt idx="6">
                  <c:v>FY20</c:v>
                </c:pt>
                <c:pt idx="7">
                  <c:v>FY21</c:v>
                </c:pt>
                <c:pt idx="8">
                  <c:v>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8.257453900000002</c:v>
                </c:pt>
                <c:pt idx="1">
                  <c:v>9.920373499999998</c:v>
                </c:pt>
                <c:pt idx="2">
                  <c:v>4.818293700000001</c:v>
                </c:pt>
                <c:pt idx="3">
                  <c:v>5.5817000000000005</c:v>
                </c:pt>
                <c:pt idx="4">
                  <c:v>3.882300000000006</c:v>
                </c:pt>
                <c:pt idx="5">
                  <c:v>10.383299999999993</c:v>
                </c:pt>
                <c:pt idx="6">
                  <c:v>9.801799999999997</c:v>
                </c:pt>
                <c:pt idx="7">
                  <c:v>8.953099999999992</c:v>
                </c:pt>
                <c:pt idx="8">
                  <c:v>7.424300000000003</c:v>
                </c:pt>
                <c:pt idx="9">
                  <c:v>7.620900000000002</c:v>
                </c:pt>
                <c:pt idx="10">
                  <c:v>8.584799999999996</c:v>
                </c:pt>
                <c:pt idx="11">
                  <c:v>9.671100000000003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Business Profile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The Company is a diversified electronics company based in India, specializing in high-technology solutions for defense, aerospace, and space sectors, with operations across North America, Europe,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Products &amp; Services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Flexible Engagement Models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Passenger Information Systems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Strategic Electronics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Electronics Manufacturing Solutions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Engineering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Industries Served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Aerospace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Defence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Space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Medical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Automotive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49039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Key Highlights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Order from Defence Organization:** Received an order from the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Order from Defence Organization:** Secured an order from Defence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Manufacturing Facilities:** Manufacturing facilities are located in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Awards:** Won the BEST KAIZEN EXCELLENCE AWARD in the NCQC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749039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Certifications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ISO/IEC 27001:2013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ISO-9001:2015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AS9100, Rev D, Aerospace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ISO 13485: 2003 Medical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43600"/>
            <a:ext cx="2712719" cy="41148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Founded: 1993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9919" y="5943600"/>
            <a:ext cx="2712719" cy="41148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Employees: 2,368 (2%)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4080" y="5943600"/>
            <a:ext cx="2712719" cy="41148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HQ: 44, KHB INDUSTRIAL AREA,YELAHANKA South India. South India. KA 560064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Financial &amp; Operational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822960"/>
          <a:ext cx="40233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54880" y="822960"/>
          <a:ext cx="40233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5661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Financial KPIs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RoCE: 4.4%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ROE: 3.0%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5661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Key Shareholders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Apparao V Mallavarapu: 40.1%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Hdfc Trustee Company: 8.2%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Apparao Venkata: 35.6%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Hdfc Mutual Fund -: 9.7%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3p India Equity Fund 1: 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577840"/>
            <a:ext cx="8412480" cy="7315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Market Position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Industry Size: $15 billion (2024)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4114800" cy="100584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Order from Defence Organization:** Received an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822960"/>
            <a:ext cx="4114800" cy="100584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Positioned for PLI scheme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402336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Key Strengths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Established Track Record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Strong Order Book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Diverse Clientele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Financial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94560"/>
            <a:ext cx="402336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Growth Opportunities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Expansion Plans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Growing Demand in Electronics 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389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Recent Milestones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Mar 2025: Strengthened partnership with Thales to manufacture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Feb 2025: Signed Teaming Agreement with Rafael to enhance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Mar 2025: Received in-principle approvals for listing of equity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Feb 2024: Announced further investment of up to 3 Million Euro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389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Market Opportunity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Electronics Manufacturing Services (EMS) is expected to grow at 7-9% (2024-2030)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