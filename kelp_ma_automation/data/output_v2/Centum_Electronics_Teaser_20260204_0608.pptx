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323232"/>
                </a:solidFill>
                <a:latin typeface="Arial"/>
              </a:defRPr>
            </a:pPr>
            <a:r>
              <a:t>Revenue &amp; EBITDA Trend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4B0082"/>
            </a:solidFill>
          </c:spPr>
          <c:dLbls>
            <c:txPr>
              <a:bodyPr/>
              <a:lstStyle/>
              <a:p>
                <a:pPr>
                  <a:defRPr sz="800">
                    <a:solidFill>
                      <a:srgbClr val="323232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81.743</c:v>
                </c:pt>
                <c:pt idx="1">
                  <c:v>77.994</c:v>
                </c:pt>
                <c:pt idx="2">
                  <c:v>92.29690000000001</c:v>
                </c:pt>
                <c:pt idx="3">
                  <c:v>109.08200000000001</c:v>
                </c:pt>
                <c:pt idx="4">
                  <c:v>115.5417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(₹ Cr)</c:v>
                </c:pt>
              </c:strCache>
            </c:strRef>
          </c:tx>
          <c:spPr>
            <a:solidFill>
              <a:srgbClr val="00CED1"/>
            </a:solidFill>
          </c:spPr>
          <c:dLbls>
            <c:txPr>
              <a:bodyPr/>
              <a:lstStyle/>
              <a:p>
                <a:pPr>
                  <a:defRPr sz="800">
                    <a:solidFill>
                      <a:srgbClr val="323232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8.953099999999992</c:v>
                </c:pt>
                <c:pt idx="1">
                  <c:v>7.424300000000003</c:v>
                </c:pt>
                <c:pt idx="2">
                  <c:v>7.620900000000002</c:v>
                </c:pt>
                <c:pt idx="3">
                  <c:v>8.584799999999996</c:v>
                </c:pt>
                <c:pt idx="4">
                  <c:v>9.671100000000003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1">
                <a:solidFill>
                  <a:srgbClr val="323232"/>
                </a:solidFill>
                <a:latin typeface="Arial"/>
              </a:defRPr>
            </a:pPr>
            <a:r>
              <a:t>Margin Analysis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Margin Split</c:v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C8C8C8"/>
              </a:solidFill>
            </c:spPr>
          </c:dPt>
          <c:cat>
            <c:strRef>
              <c:f>Sheet1!$A$2:$A$3</c:f>
              <c:strCache>
                <c:ptCount val="2"/>
                <c:pt idx="0">
                  <c:v>EBITDA %</c:v>
                </c:pt>
                <c:pt idx="1">
                  <c:v>Other Costs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8.37022477598997</c:v>
                </c:pt>
                <c:pt idx="1">
                  <c:v>91.62977522401003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3EDF-1014-EFA6-5DC1-2FAE2609D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3CBBC-7069-583C-C506-310C0FC4A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3A4CC-A7C6-F92D-CAF5-FC1ED6EF2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4EFBB-C0CC-7072-CA6F-6AD55E3F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B021B-77C3-41AE-81DA-E3E529A0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18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94C7-91D3-DDCB-07B6-0EEB95565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3DD00-B514-2B45-8C00-A048AAF04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FD51-408E-DC37-08B0-91A4EFA2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1D217-953B-A86E-F34A-6D3399577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F005A-0059-4D16-D4AD-2EE40E7D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09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ECFC-4552-3B1E-669C-DEB13F8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7C15F-6609-6F47-4EAC-0924C5C9C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BA473-7E25-2095-29A5-18704DB0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729A7-A2E7-2A22-54E7-18327837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D4523-628A-8A6D-244B-E8B01454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5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B93F1-34A8-37A5-264E-86D0F442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1F2FC-D4AF-A3A1-F940-798EE46FA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DB1C9-B68F-9CDB-6E5A-58460C89C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9075A-6CF5-A3CD-B310-78BC89B5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0C3D4-1E9D-CCB0-AAEC-9A47E031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11A5B-B1E6-DAFC-988E-C057AB36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354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8450-9520-AC44-084B-D1FC8BFA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3C6CB-E72B-0931-2A34-4571CFF8E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FDCB3-4263-DDE3-9DF3-BE8F5CE39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BF410-3399-BE02-28C5-45393E807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3500D-BF81-CD9F-7108-7026A2D8B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3361A3-7DDC-7F42-B9B1-8AD2B61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6659B-B94E-4466-9BB9-E6E64F2BB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D5CA3-B3C3-DC74-4384-80593BA9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2909-F38B-153D-D158-1199EABF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6E500-DEB1-E3ED-6E24-CA18474F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E6605-ACA8-BC0B-4103-DEFBA4FB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E7D5E-F76C-1F60-AD52-6242F3DC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713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1C204-31C7-928E-431C-1C48FD02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533DE8-275C-38DA-951C-44BFAED6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E918D-8845-CD5C-A241-BE69AF5A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177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92C8-C6D4-C2B8-D26E-01BD39C32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D2F1-AEA3-6873-34D7-75EA827B1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8528C-856A-01AC-6C99-61666A644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C478D-DC41-D92A-73CD-7BC08CFD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4FAE4-AE3A-8115-7633-FC675B02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8398F-CCDC-9828-24B1-296E08D7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892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0867-D02D-AABD-72DB-B4548636C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43B5F1-E014-008A-0344-AAAF58A03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E53CE-5E0C-5CFB-1747-4BC55825F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EBB35-3DA7-58FA-1251-363A8E26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0BE52-18CF-F7A6-9EAC-2F23C473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30B60-0C68-A69A-5472-5724A997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287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197E-0F47-3C80-0060-C0C5F06B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81940-6AB5-9EB7-24B1-24471D1C0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5F265-15E0-8971-3711-C74355B48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2531D-B644-6353-A2BC-B41BCE78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9D5CB-5DA5-C8A5-BDFA-1B98A95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108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774AF-5179-CA99-6013-E5DC9FB2C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24EAC-5AF9-916E-F8C8-82DAE34C8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BFCA3-68A7-C0E6-AB00-02F7B388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1B066-22FC-3E3B-21F3-4FA31F839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AEFBD-BAF5-E54B-8474-B505436B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8302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ED0E0-3829-E7F4-3550-077DC2B93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C21D-4B89-42A2-C4FC-ADD1C1AF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E6AD4-F0A3-2A37-DF0B-42BA0F972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03F33-1392-C4CC-FF48-9D9E4BB10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432D2-7FF3-1BA7-81D1-403C8FD64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83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93D5-6DA4-79E3-FE30-E4A56FC87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193FF-964E-1513-B42B-85DFFC488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Kaisa </a:t>
            </a:r>
            <a:r>
              <a:rPr lang="en-IN" dirty="0" err="1"/>
              <a:t>hai</a:t>
            </a:r>
            <a:r>
              <a:rPr lang="en-IN" dirty="0"/>
              <a:t> </a:t>
            </a:r>
            <a:r>
              <a:rPr lang="en-IN" dirty="0" err="1"/>
              <a:t>vro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609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ADC-D2E4-F2B3-9D26-BCFBC3E77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Picture Placeholder 2" descr="pic_!&#10;">
            <a:extLst>
              <a:ext uri="{FF2B5EF4-FFF2-40B4-BE49-F238E27FC236}">
                <a16:creationId xmlns:a16="http://schemas.microsoft.com/office/drawing/2014/main" id="{D2CDF99E-C460-76B1-BDD6-21B1F19B53E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8E8EB-FB1B-AB9E-1382-B5E4BDD07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465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BFDE-AB15-AD05-CD22-03C422C7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A713-9564-3730-E236-B5455817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298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4B38-F97A-CB49-1280-DE334583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F4E03-C940-8DF0-6083-A972A3083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12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9E99-1F0F-B845-C728-B1137F52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FA4A9-663B-BA0F-F268-C1D9BEA30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775174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Business Profile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2560320" cy="2286000"/>
          </a:xfrm>
          <a:prstGeom prst="rect">
            <a:avLst/>
          </a:prstGeom>
          <a:solidFill>
            <a:srgbClr val="F5F5FA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Product Portfolio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Flexible Engagement Models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Passenger Information Systems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Strategic Electronics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Electronics Manufacturing Solutions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Engineering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383280"/>
            <a:ext cx="2560320" cy="2286000"/>
          </a:xfrm>
          <a:prstGeom prst="rect">
            <a:avLst/>
          </a:prstGeom>
          <a:solidFill>
            <a:srgbClr val="F5F5FA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Industries Served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Aerospace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Defence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Space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Medical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383280"/>
            <a:ext cx="2560320" cy="2286000"/>
          </a:xfrm>
          <a:prstGeom prst="rect">
            <a:avLst/>
          </a:prstGeom>
          <a:solidFill>
            <a:srgbClr val="F5F5FA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Certifications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ISO/IEC 27001:2013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ISO-9001:2015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AS9100, Rev D, Aerospace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  <a:latin typeface="Arial"/>
              </a:defRPr>
            </a:pPr>
            <a:r>
              <a:t>• ISO 13485: 2003 Medical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E6E6EB"/>
          </a:solidFill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969696"/>
                </a:solidFill>
              </a:defRPr>
            </a:pPr>
            <a:r>
              <a:t>[Hero Image - Add relevant industry image]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Employees: 2,368 (2%)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612648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Founded: 1993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12648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HQ: 44, KHB INDUSTRIAL AREA,YELAHANKA Southern India. Southern India. KA 560064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Financial &amp; Operational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4114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54880" y="1097280"/>
          <a:ext cx="36576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3474720" cy="91440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Order from a defence organization:** Received a...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3474720" cy="91440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Quality certified: ISO/IEC 27001:2013, ISO-9001...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Test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 Savla</dc:creator>
  <cp:lastModifiedBy>Ansh Savla</cp:lastModifiedBy>
  <cp:revision>1</cp:revision>
  <dcterms:created xsi:type="dcterms:W3CDTF">2026-02-03T18:42:31Z</dcterms:created>
  <dcterms:modified xsi:type="dcterms:W3CDTF">2026-02-03T18:42:37Z</dcterms:modified>
</cp:coreProperties>
</file>