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Revenue &amp; EBITDA Trend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4B0082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131.424</c:v>
                </c:pt>
                <c:pt idx="1">
                  <c:v>148.994</c:v>
                </c:pt>
                <c:pt idx="2">
                  <c:v>172.317</c:v>
                </c:pt>
                <c:pt idx="3">
                  <c:v>169.799</c:v>
                </c:pt>
                <c:pt idx="4">
                  <c:v>151.001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00CED1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2.7149999999999967</c:v>
                </c:pt>
                <c:pt idx="1">
                  <c:v>3.4389999999999996</c:v>
                </c:pt>
                <c:pt idx="2">
                  <c:v>7.004000000000015</c:v>
                </c:pt>
                <c:pt idx="3">
                  <c:v>5.189999999999999</c:v>
                </c:pt>
                <c:pt idx="4">
                  <c:v>6.451000000000005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Margin Analysis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Split</c:v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C8C8C8"/>
              </a:solidFill>
            </c:spPr>
          </c:dPt>
          <c:cat>
            <c:strRef>
              <c:f>Sheet1!$A$2:$A$3</c:f>
              <c:strCache>
                <c:ptCount val="2"/>
                <c:pt idx="0">
                  <c:v>EBITDA %</c:v>
                </c:pt>
                <c:pt idx="1">
                  <c:v>Other Costs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4.272157138032202</c:v>
                </c:pt>
                <c:pt idx="1">
                  <c:v>95.7278428619678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EDF-1014-EFA6-5DC1-2FAE2609D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3CBBC-7069-583C-C506-310C0FC4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A4CC-A7C6-F92D-CAF5-FC1ED6EF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FBB-C0CC-7072-CA6F-6AD55E3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021B-77C3-41AE-81DA-E3E529A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4C7-91D3-DDCB-07B6-0EEB955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D00-B514-2B45-8C00-A048AAF04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FD51-408E-DC37-08B0-91A4EFA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D217-953B-A86E-F34A-6D33995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F005A-0059-4D16-D4AD-2EE40E7D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CFC-4552-3B1E-669C-DEB13F8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5F-6609-6F47-4EAC-0924C5C9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A473-7E25-2095-29A5-18704DB0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29A7-A2E7-2A22-54E7-18327837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4523-628A-8A6D-244B-E8B0145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93F1-34A8-37A5-264E-86D0F442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2FC-D4AF-A3A1-F940-798EE46FA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B1C9-B68F-9CDB-6E5A-58460C8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075A-6CF5-A3CD-B310-78BC89B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C3D4-1E9D-CCB0-AAEC-9A47E031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1A5B-B1E6-DAFC-988E-C057AB36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8450-9520-AC44-084B-D1FC8BFA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3C6CB-E72B-0931-2A34-4571CFF8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DCB3-4263-DDE3-9DF3-BE8F5CE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F410-3399-BE02-28C5-45393E80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3500D-BF81-CD9F-7108-7026A2D8B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61A3-7DDC-7F42-B9B1-8AD2B61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6659B-B94E-4466-9BB9-E6E64F2B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D5CA3-B3C3-DC74-4384-80593BA9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2909-F38B-153D-D158-1199EAB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E500-DEB1-E3ED-6E24-CA18474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6605-ACA8-BC0B-4103-DEFBA4F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E7D5E-F76C-1F60-AD52-6242F3D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C204-31C7-928E-431C-1C48FD0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33DE8-275C-38DA-951C-44BFAED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918D-8845-CD5C-A241-BE69AF5A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92C8-C6D4-C2B8-D26E-01BD39C3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D2F1-AEA3-6873-34D7-75EA827B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528C-856A-01AC-6C99-61666A644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8D-DC41-D92A-73CD-7BC08CF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FAE4-AE3A-8115-7633-FC675B0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398F-CCDC-9828-24B1-296E08D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867-D02D-AABD-72DB-B4548636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3B5F1-E014-008A-0344-AAAF58A0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53CE-5E0C-5CFB-1747-4BC55825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B35-3DA7-58FA-1251-363A8E26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BE52-18CF-F7A6-9EAC-2F23C473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30B60-0C68-A69A-5472-5724A99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8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197E-0F47-3C80-0060-C0C5F06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1940-6AB5-9EB7-24B1-24471D1C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F265-15E0-8971-3711-C74355B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531D-B644-6353-A2BC-B41BCE7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D5CB-5DA5-C8A5-BDFA-1B98A95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0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74AF-5179-CA99-6013-E5DC9FB2C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24EAC-5AF9-916E-F8C8-82DAE34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BFCA3-68A7-C0E6-AB00-02F7B38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B066-22FC-3E3B-21F3-4FA31F83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FBD-BAF5-E54B-8474-B505436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302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ED0E0-3829-E7F4-3550-077DC2B9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C21D-4B89-42A2-C4FC-ADD1C1AF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6AD4-F0A3-2A37-DF0B-42BA0F972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3F33-1392-C4CC-FF48-9D9E4BB1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32D2-7FF3-1BA7-81D1-403C8FD64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3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93D5-6DA4-79E3-FE30-E4A56FC8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3FF-964E-1513-B42B-85DFFC488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Kaisa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vro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60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ADC-D2E4-F2B3-9D26-BCFBC3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 descr="pic_!&#10;">
            <a:extLst>
              <a:ext uri="{FF2B5EF4-FFF2-40B4-BE49-F238E27FC236}">
                <a16:creationId xmlns:a16="http://schemas.microsoft.com/office/drawing/2014/main" id="{D2CDF99E-C460-76B1-BDD6-21B1F19B53E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E8EB-FB1B-AB9E-1382-B5E4BDD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BFDE-AB15-AD05-CD22-03C422C7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713-9564-3730-E236-B5455817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9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4B38-F97A-CB49-1280-DE334583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4E03-C940-8DF0-6083-A972A308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2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E99-1F0F-B845-C728-B1137F52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A4A9-663B-BA0F-F268-C1D9BEA30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7517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Network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2560320" cy="2286000"/>
          </a:xfrm>
          <a:prstGeom prst="rect">
            <a:avLst/>
          </a:prstGeom>
          <a:solidFill>
            <a:srgbClr val="F5F5FA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Product Portfolio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Express Distribution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Supply Chain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Warehousing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383280"/>
            <a:ext cx="2560320" cy="2286000"/>
          </a:xfrm>
          <a:prstGeom prst="rect">
            <a:avLst/>
          </a:prstGeom>
          <a:solidFill>
            <a:srgbClr val="F5F5FA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Chemical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Automotive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Retail &amp; Fashion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E6E6EB"/>
          </a:solidFill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[Hero Image - Add relevant industry image]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Employees: 5,529 (5%)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Founded: 1995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HQ: Western Pearl, 4th Floor, Survey No. 13(p), Kondapur Southern India Rangareddi TG 500084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Operational Metrics &amp;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1097280"/>
          <a:ext cx="36576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Savla</dc:creator>
  <cp:lastModifiedBy>Ansh Savla</cp:lastModifiedBy>
  <cp:revision>1</cp:revision>
  <dcterms:created xsi:type="dcterms:W3CDTF">2026-02-03T18:42:31Z</dcterms:created>
  <dcterms:modified xsi:type="dcterms:W3CDTF">2026-02-03T18:42:37Z</dcterms:modified>
</cp:coreProperties>
</file>