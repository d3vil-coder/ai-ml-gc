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solidFill>
                  <a:srgbClr val="4B0082"/>
                </a:solidFill>
              </a:defRPr>
            </a:pPr>
            <a:r>
              <a:t>Revenue (₹ Cr)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B0082"/>
              </a:solidFill>
            </c:spPr>
          </c:dPt>
          <c:dPt>
            <c:idx val="1"/>
            <c:spPr>
              <a:solidFill>
                <a:srgbClr val="4B0082"/>
              </a:solidFill>
            </c:spPr>
          </c:dPt>
          <c:dPt>
            <c:idx val="2"/>
            <c:spPr>
              <a:solidFill>
                <a:srgbClr val="4B0082"/>
              </a:solidFill>
            </c:spPr>
          </c:dPt>
          <c:dPt>
            <c:idx val="3"/>
            <c:spPr>
              <a:solidFill>
                <a:srgbClr val="4B0082"/>
              </a:solidFill>
            </c:spPr>
          </c:dPt>
          <c:dPt>
            <c:idx val="4"/>
            <c:spPr>
              <a:solidFill>
                <a:srgbClr val="4B0082"/>
              </a:solidFill>
            </c:spPr>
          </c:dPt>
          <c:dPt>
            <c:idx val="5"/>
            <c:spPr>
              <a:solidFill>
                <a:srgbClr val="4B0082"/>
              </a:solidFill>
            </c:spPr>
          </c:dPt>
          <c:cat>
            <c:strRef>
              <c:f>Sheet1!$A$2:$A$7</c:f>
              <c:strCache>
                <c:ptCount val="6"/>
                <c:pt idx="0">
                  <c:v>FY20</c:v>
                </c:pt>
                <c:pt idx="1">
                  <c:v>FY21</c:v>
                </c:pt>
                <c:pt idx="2">
                  <c:v>FY22</c:v>
                </c:pt>
                <c:pt idx="3">
                  <c:v>FY23</c:v>
                </c:pt>
                <c:pt idx="4">
                  <c:v>FY24</c:v>
                </c:pt>
                <c:pt idx="5">
                  <c:v>FY25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1.0132345</c:v>
                </c:pt>
                <c:pt idx="1">
                  <c:v>2.82154</c:v>
                </c:pt>
                <c:pt idx="2">
                  <c:v>4.70686</c:v>
                </c:pt>
                <c:pt idx="3">
                  <c:v>7.83116</c:v>
                </c:pt>
                <c:pt idx="4">
                  <c:v>10.864</c:v>
                </c:pt>
                <c:pt idx="5">
                  <c:v>13.743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000" b="1">
                <a:solidFill>
                  <a:srgbClr val="4B0082"/>
                </a:solidFill>
              </a:defRPr>
            </a:pPr>
            <a:r>
              <a:t>EBITDA (₹ Cr)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B0082"/>
              </a:solidFill>
            </c:spPr>
          </c:dPt>
          <c:dPt>
            <c:idx val="1"/>
            <c:spPr>
              <a:solidFill>
                <a:srgbClr val="4B0082"/>
              </a:solidFill>
            </c:spPr>
          </c:dPt>
          <c:dPt>
            <c:idx val="2"/>
            <c:spPr>
              <a:solidFill>
                <a:srgbClr val="4B0082"/>
              </a:solidFill>
            </c:spPr>
          </c:dPt>
          <c:dPt>
            <c:idx val="3"/>
            <c:spPr>
              <a:solidFill>
                <a:srgbClr val="4B0082"/>
              </a:solidFill>
            </c:spPr>
          </c:dPt>
          <c:dPt>
            <c:idx val="4"/>
            <c:spPr>
              <a:solidFill>
                <a:srgbClr val="4B0082"/>
              </a:solidFill>
            </c:spPr>
          </c:dPt>
          <c:dPt>
            <c:idx val="5"/>
            <c:spPr>
              <a:solidFill>
                <a:srgbClr val="4B0082"/>
              </a:solidFill>
            </c:spPr>
          </c:dPt>
          <c:cat>
            <c:strRef>
              <c:f>Sheet1!$A$2:$A$7</c:f>
              <c:strCache>
                <c:ptCount val="6"/>
                <c:pt idx="0">
                  <c:v>FY20</c:v>
                </c:pt>
                <c:pt idx="1">
                  <c:v>FY21</c:v>
                </c:pt>
                <c:pt idx="2">
                  <c:v>FY22</c:v>
                </c:pt>
                <c:pt idx="3">
                  <c:v>FY23</c:v>
                </c:pt>
                <c:pt idx="4">
                  <c:v>FY24</c:v>
                </c:pt>
                <c:pt idx="5">
                  <c:v>FY25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11.956489999999993</c:v>
                </c:pt>
                <c:pt idx="1">
                  <c:v>1.21413</c:v>
                </c:pt>
                <c:pt idx="2">
                  <c:v>2.0142900000000004</c:v>
                </c:pt>
                <c:pt idx="3">
                  <c:v>3.2857300000000005</c:v>
                </c:pt>
                <c:pt idx="4">
                  <c:v>4.699999999999999</c:v>
                </c:pt>
                <c:pt idx="5">
                  <c:v>4.889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B0082"/>
                </a:solidFill>
                <a:latin typeface="Arial"/>
              </a:defRPr>
            </a:pPr>
            <a:r>
              <a:t>Business Profile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182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23232"/>
                </a:solidFill>
                <a:latin typeface="Arial"/>
              </a:defRPr>
            </a:pPr>
            <a:r>
              <a:t>The Company India Limited is a prominent software development company specializing in advanced technologies such as Big Data, Machine Learning, and Salesforce. With a skilled team of 450 developers,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Products &amp; Services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AI ML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Big Data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Salesforce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DevOps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Odoo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Cross Platform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Java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Magento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Industries Served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Big Data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Machine Learning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Salesforce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Odoo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Devops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Mobile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035040"/>
            <a:ext cx="4137659" cy="32004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Founded: 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0580" y="6035040"/>
            <a:ext cx="4137659" cy="32004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Employees: 831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B0082"/>
                </a:solidFill>
                <a:latin typeface="Arial"/>
              </a:defRPr>
            </a:pPr>
            <a:r>
              <a:t>Financial &amp; Operational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182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777240"/>
          <a:ext cx="402336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754880" y="777240"/>
          <a:ext cx="402336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246120"/>
            <a:ext cx="402336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Financial KPIs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Revenue CAGR: 68.5%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EBITDA Margin: 35.6%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RoCE: 79.2%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ROE: 126.1%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246120"/>
            <a:ext cx="402336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Key Shareholders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Deepali Verma: 32.0%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Ratan Kumar Srivastava: 27.0%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Sachin Balkrishna Ramdasi: 5.0%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Ratan Kumar Srivastava: 31.8%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Deepali Verma: 27.1%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74920"/>
            <a:ext cx="8412480" cy="6400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Market Position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Industry Size: $245 billion (2024)</a:t>
            </a:r>
          </a:p>
          <a:p>
            <a:pPr>
              <a:spcBef>
                <a:spcPts val="2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Industry Growth: 8-10% (2024-2028)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4B0082"/>
                </a:solidFill>
                <a:latin typeface="Arial"/>
              </a:defRPr>
            </a:pPr>
            <a:r>
              <a:t>Investment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182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4137659" cy="82296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68% revenue CAGR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0580" y="777240"/>
            <a:ext cx="4137659" cy="82296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Positioned for Digital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659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Key Strengths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FY25 Revenue +6%, Macroecon Hurdles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Secured $600k US firm order 2025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The Company won 'Odoo Best Partner India 2025'.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659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Growth Opportunities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India's IT growth, 13% CAGR (2025-30)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India's IT spend rises by 11%, nearly $160B in '25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Global block growth,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86200"/>
            <a:ext cx="4023360" cy="146304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Recent Milestones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Top SMEs Tech Awards 2025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Honored in Oct '25, Odoo's top partner!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Second interim dividend @₹5/share in FY25-26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Revenue up by 13.9%, ₹39.67 cr in '25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886200"/>
            <a:ext cx="4023360" cy="146304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Market Opportunity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IT Services is expected to grow at 8-10% (2024-2028)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53796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