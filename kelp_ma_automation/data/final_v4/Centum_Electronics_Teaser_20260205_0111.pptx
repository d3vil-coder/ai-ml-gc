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4B0082"/>
                </a:solidFill>
              </a:defRPr>
            </a:pPr>
            <a:r>
              <a:t>Revenue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42.518186299999996</c:v>
                </c:pt>
                <c:pt idx="1">
                  <c:v>48.79970169999999</c:v>
                </c:pt>
                <c:pt idx="2">
                  <c:v>40.4481418</c:v>
                </c:pt>
                <c:pt idx="3">
                  <c:v>70.324</c:v>
                </c:pt>
                <c:pt idx="4">
                  <c:v>78.10600000000001</c:v>
                </c:pt>
                <c:pt idx="5">
                  <c:v>93.039</c:v>
                </c:pt>
                <c:pt idx="6">
                  <c:v>88.32639999999999</c:v>
                </c:pt>
                <c:pt idx="7">
                  <c:v>81.743</c:v>
                </c:pt>
                <c:pt idx="8">
                  <c:v>77.994</c:v>
                </c:pt>
                <c:pt idx="9">
                  <c:v>92.29690000000001</c:v>
                </c:pt>
                <c:pt idx="10">
                  <c:v>109.08200000000001</c:v>
                </c:pt>
                <c:pt idx="11">
                  <c:v>115.5417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4B0082"/>
                </a:solidFill>
              </a:defRPr>
            </a:pPr>
            <a:r>
              <a:t>EBITDA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dPt>
            <c:idx val="6"/>
            <c:spPr>
              <a:solidFill>
                <a:srgbClr val="4B0082"/>
              </a:solidFill>
            </c:spPr>
          </c:dPt>
          <c:dPt>
            <c:idx val="7"/>
            <c:spPr>
              <a:solidFill>
                <a:srgbClr val="4B0082"/>
              </a:solidFill>
            </c:spPr>
          </c:dPt>
          <c:dPt>
            <c:idx val="8"/>
            <c:spPr>
              <a:solidFill>
                <a:srgbClr val="4B0082"/>
              </a:solidFill>
            </c:spPr>
          </c:dPt>
          <c:dPt>
            <c:idx val="9"/>
            <c:spPr>
              <a:solidFill>
                <a:srgbClr val="4B0082"/>
              </a:solidFill>
            </c:spPr>
          </c:dPt>
          <c:dPt>
            <c:idx val="10"/>
            <c:spPr>
              <a:solidFill>
                <a:srgbClr val="4B0082"/>
              </a:solidFill>
            </c:spPr>
          </c:dPt>
          <c:dPt>
            <c:idx val="11"/>
            <c:spPr>
              <a:solidFill>
                <a:srgbClr val="4B0082"/>
              </a:solidFill>
            </c:spPr>
          </c:dPt>
          <c:cat>
            <c:strRef>
              <c:f>Sheet1!$A$2:$A$13</c:f>
              <c:strCache>
                <c:ptCount val="12"/>
                <c:pt idx="0">
                  <c:v>FY14</c:v>
                </c:pt>
                <c:pt idx="1">
                  <c:v>FY15</c:v>
                </c:pt>
                <c:pt idx="2">
                  <c:v>FY16</c:v>
                </c:pt>
                <c:pt idx="3">
                  <c:v>FY17</c:v>
                </c:pt>
                <c:pt idx="4">
                  <c:v>FY18</c:v>
                </c:pt>
                <c:pt idx="5">
                  <c:v>FY19</c:v>
                </c:pt>
                <c:pt idx="6">
                  <c:v>FY20</c:v>
                </c:pt>
                <c:pt idx="7">
                  <c:v>FY21</c:v>
                </c:pt>
                <c:pt idx="8">
                  <c:v>FY22</c:v>
                </c:pt>
                <c:pt idx="9">
                  <c:v>FY23</c:v>
                </c:pt>
                <c:pt idx="10">
                  <c:v>FY24</c:v>
                </c:pt>
                <c:pt idx="11">
                  <c:v>FY25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8.257453900000002</c:v>
                </c:pt>
                <c:pt idx="1">
                  <c:v>9.920373499999998</c:v>
                </c:pt>
                <c:pt idx="2">
                  <c:v>4.818293700000001</c:v>
                </c:pt>
                <c:pt idx="3">
                  <c:v>5.5817000000000005</c:v>
                </c:pt>
                <c:pt idx="4">
                  <c:v>3.882300000000006</c:v>
                </c:pt>
                <c:pt idx="5">
                  <c:v>10.383299999999993</c:v>
                </c:pt>
                <c:pt idx="6">
                  <c:v>9.801799999999997</c:v>
                </c:pt>
                <c:pt idx="7">
                  <c:v>8.953099999999992</c:v>
                </c:pt>
                <c:pt idx="8">
                  <c:v>7.424300000000003</c:v>
                </c:pt>
                <c:pt idx="9">
                  <c:v>7.620900000000002</c:v>
                </c:pt>
                <c:pt idx="10">
                  <c:v>8.584799999999996</c:v>
                </c:pt>
                <c:pt idx="11">
                  <c:v>9.671100000000003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Business Profile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Arial"/>
              </a:defRPr>
            </a:pPr>
            <a:r>
              <a:t>A diversified Indian tech firm offers customized defense &amp; aerospace products/services globally; specializes in mission-critical electronics with a strong customer base dating back to 1994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Flexible Engagement Models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Passenger Information Systems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Strategic Electronics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Electronics Manufacturing Solutions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Engineering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After Sales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Space Technology Solutions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Communications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Aerospace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Defence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Space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Medical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Automotive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Telecommunications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Highlights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Order received - Defense Org. ILS subsystems by Dec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Secured DRDO Space-EW payloads by '24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Manufacturing plants | 350k sqft | South India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Won Best Kaizen Excellence Award at NCQC, organized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4747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Certifications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ISO/IEC 27001:2013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ISO-9001:2015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AS9100, Rev D, Aerospace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ISO 13485: 2003 Medical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IRIS Railway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035040"/>
            <a:ext cx="4137659" cy="32004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Founded: 1993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0580" y="6035040"/>
            <a:ext cx="4137659" cy="32004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Employees: 2,368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777240"/>
          <a:ext cx="40233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777240"/>
          <a:ext cx="402336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246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Financial KPIs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Revenue CAGR: 9.5%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EBITDA Margin: 8.4%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RoCE: 4.4%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ROE: 3.0%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246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Shareholders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Apparao V Mallavarapu: 40.1%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Hdfc Trustee Company Limited: 8.2%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Apparao Venkata Mallavarapu: 35.6%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Hdfc Mutual Fund - Hdfc Multi Cap Fund: 9.7%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3p India Equity Fund 1: 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74920"/>
            <a:ext cx="8412480" cy="6400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Market Position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Size: $15 billion (2024)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Growth: 7-9% (2024-2030)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2712719" cy="82296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10% revenue CAGR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5639" y="777240"/>
            <a:ext cx="2712719" cy="82296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Order from Defence Organization:** Received 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65520" y="777240"/>
            <a:ext cx="2712719" cy="82296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Positioned for PLI scheme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Established Track Record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Strong Order Book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Diverse Clientele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Financial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Expansion Plans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Growing Demand in Electronics Sector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86200"/>
            <a:ext cx="4023360" cy="146304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Thales strengthens flight avionics manufacturing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Feb 2025: Intel pact w/Rafael boosts India's intel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Mar 2025: Equity share listings approved by BSE, NSE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Feb 2024: Invest €3M in T&amp;S Group 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886200"/>
            <a:ext cx="4023360" cy="146304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Electronics Manufacturing Services (EMS) is expected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