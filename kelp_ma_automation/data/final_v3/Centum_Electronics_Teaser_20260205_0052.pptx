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42.518186299999996</c:v>
                </c:pt>
                <c:pt idx="1">
                  <c:v>48.79970169999999</c:v>
                </c:pt>
                <c:pt idx="2">
                  <c:v>40.4481418</c:v>
                </c:pt>
                <c:pt idx="3">
                  <c:v>70.324</c:v>
                </c:pt>
                <c:pt idx="4">
                  <c:v>78.10600000000001</c:v>
                </c:pt>
                <c:pt idx="5">
                  <c:v>93.039</c:v>
                </c:pt>
                <c:pt idx="6">
                  <c:v>88.32639999999999</c:v>
                </c:pt>
                <c:pt idx="7">
                  <c:v>81.743</c:v>
                </c:pt>
                <c:pt idx="8">
                  <c:v>77.994</c:v>
                </c:pt>
                <c:pt idx="9">
                  <c:v>92.29690000000001</c:v>
                </c:pt>
                <c:pt idx="10">
                  <c:v>109.08200000000001</c:v>
                </c:pt>
                <c:pt idx="11">
                  <c:v>115.5417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8.257453900000002</c:v>
                </c:pt>
                <c:pt idx="1">
                  <c:v>9.920373499999998</c:v>
                </c:pt>
                <c:pt idx="2">
                  <c:v>4.818293700000001</c:v>
                </c:pt>
                <c:pt idx="3">
                  <c:v>5.5817000000000005</c:v>
                </c:pt>
                <c:pt idx="4">
                  <c:v>3.882300000000006</c:v>
                </c:pt>
                <c:pt idx="5">
                  <c:v>10.383299999999993</c:v>
                </c:pt>
                <c:pt idx="6">
                  <c:v>9.801799999999997</c:v>
                </c:pt>
                <c:pt idx="7">
                  <c:v>8.953099999999992</c:v>
                </c:pt>
                <c:pt idx="8">
                  <c:v>7.424300000000003</c:v>
                </c:pt>
                <c:pt idx="9">
                  <c:v>7.620900000000002</c:v>
                </c:pt>
                <c:pt idx="10">
                  <c:v>8.584799999999996</c:v>
                </c:pt>
                <c:pt idx="11">
                  <c:v>9.671100000000003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The Company is a diversified electronics company based in India, specializing in high-technology solutions for defense, aerospace, and space sectors, with operations across North America, Europe,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Flexible Engagement Models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Passenger Information Systems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Strategic Electronics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Electronics Manufacturing Solutions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Engineering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Aerospace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Defence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Space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Medical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Highlights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Order received Dec Org for ISL subsystems by '24.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Secured DRDO contract; Space-EW payload by '24.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Manufacturing Facilities:** Manufacturing facilities are located in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Awards:** Won the BEST KAIZEN EXCELLENCE AWARD in the NCQC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49039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Certifications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ISO/IEC 27001:2013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ISO-9001:2015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AS9100, Rev D, Aerospace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ISO 13485: 2003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1993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9919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2,368 (2%)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408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HQ: 44, KHB INDUSTRIAL AREA,YELAHANKA South India. South India. KA 560064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4.4%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3.0%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Apparao V Mallavarapu: 40.1%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HDFC TCCL: 8.2%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Appa Mallav (21 chars): 35.6%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Hdfc MF, Multi Cap Fund: 9.7%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3p India Equity Fund 1: 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577840"/>
            <a:ext cx="8412480" cy="7315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Market Position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Size: $15 billion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4114800" cy="100584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Order received - Defense Org. ILS subs by Dec '24.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22960"/>
            <a:ext cx="4114800" cy="100584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Positioned for PLI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Established Track Record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Strong Order Book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Diverse Clientele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Expansion Plans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Growing Demand in Electronics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Thales strengthens March 2025 avionic systems production partnership.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Team up in February '25; boost India's intel with Rafael.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Received approval for share listing on BSE/NSE, March 2025.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Feb 2024: Invest €3M into T&amp;S Group 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Electronics Manufacturing Services (EMS) is expected to grow at 7-9% (2024-2030)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