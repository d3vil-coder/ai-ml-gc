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Revenue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1.0132345</c:v>
                </c:pt>
                <c:pt idx="1">
                  <c:v>2.82154</c:v>
                </c:pt>
                <c:pt idx="2">
                  <c:v>4.70686</c:v>
                </c:pt>
                <c:pt idx="3">
                  <c:v>7.83116</c:v>
                </c:pt>
                <c:pt idx="4">
                  <c:v>10.864</c:v>
                </c:pt>
                <c:pt idx="5">
                  <c:v>13.743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100" b="1">
                <a:solidFill>
                  <a:srgbClr val="4B0082"/>
                </a:solidFill>
              </a:defRPr>
            </a:pPr>
            <a:r>
              <a:t>EBITDA (₹ Cr)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4B0082"/>
              </a:solidFill>
            </c:spPr>
          </c:dPt>
          <c:dPt>
            <c:idx val="2"/>
            <c:spPr>
              <a:solidFill>
                <a:srgbClr val="4B0082"/>
              </a:solidFill>
            </c:spPr>
          </c:dPt>
          <c:dPt>
            <c:idx val="3"/>
            <c:spPr>
              <a:solidFill>
                <a:srgbClr val="4B0082"/>
              </a:solidFill>
            </c:spPr>
          </c:dPt>
          <c:dPt>
            <c:idx val="4"/>
            <c:spPr>
              <a:solidFill>
                <a:srgbClr val="4B0082"/>
              </a:solidFill>
            </c:spPr>
          </c:dPt>
          <c:dPt>
            <c:idx val="5"/>
            <c:spPr>
              <a:solidFill>
                <a:srgbClr val="4B0082"/>
              </a:solidFill>
            </c:spPr>
          </c:dPt>
          <c:cat>
            <c:strRef>
              <c:f>Sheet1!$A$2:$A$7</c:f>
              <c:strCache>
                <c:ptCount val="6"/>
                <c:pt idx="0">
                  <c:v>FY20</c:v>
                </c:pt>
                <c:pt idx="1">
                  <c:v>FY21</c:v>
                </c:pt>
                <c:pt idx="2">
                  <c:v>FY22</c:v>
                </c:pt>
                <c:pt idx="3">
                  <c:v>FY23</c:v>
                </c:pt>
                <c:pt idx="4">
                  <c:v>FY24</c:v>
                </c:pt>
                <c:pt idx="5">
                  <c:v>FY25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11.956489999999993</c:v>
                </c:pt>
                <c:pt idx="1">
                  <c:v>1.21413</c:v>
                </c:pt>
                <c:pt idx="2">
                  <c:v>2.0142900000000004</c:v>
                </c:pt>
                <c:pt idx="3">
                  <c:v>3.2857300000000005</c:v>
                </c:pt>
                <c:pt idx="4">
                  <c:v>4.699999999999999</c:v>
                </c:pt>
                <c:pt idx="5">
                  <c:v>4.889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Business Profile &amp;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323232"/>
                </a:solidFill>
                <a:latin typeface="Arial"/>
              </a:defRPr>
            </a:pPr>
            <a:r>
              <a:t>The Company India Limited is a prominent software development company specializing in advanced technologies such as Big Data, Machine Learning, and Salesforce. With a skilled team of 450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AI ML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7373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Machine Learning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Founded: 2014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9919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Employees: 831 (10%)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74080" y="5943600"/>
            <a:ext cx="2712719" cy="41148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HQ: 317/276, Second floor, Lane no.3, Mehrauli Road, Saidulajab, Saket, New North India South North India DL 110030 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Financial &amp; Operational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754880" y="822960"/>
          <a:ext cx="4023360" cy="2560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Financial KPIs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RoCE: 79.2%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ROE: 126.1%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3566160"/>
            <a:ext cx="4023360" cy="182880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Shareholders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Deepali Verma: 32.0%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Ratan Kumar Srivastava: 27.0%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Sachin Balkrishna Ramdasi: 5.0%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Ratan Kumar Srivastava: 31.8%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Deepali Verma: 27.1%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0408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4B0082"/>
                </a:solidFill>
              </a:defRPr>
            </a:pPr>
            <a:r>
              <a:t>KELP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FY25 Revenue +26%, robust amid econ hurdles.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Secured $600k for US R&amp;D firm in '25.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The Company won 'Odoo Best Partner India 2025'.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94560"/>
            <a:ext cx="402336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India's IT sector growth, CAGR 13%, 2025-2030.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India's IT spend rises by nearly $160B in '25.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Global blockchains, booming by 68%, forecasted growth till '30.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Top SMEs recognized for tech excellence, August 2025.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Honored in Oct '25, top partner for Odoo's Indian experience!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Second interim dividend announced at ₹5/share in FY25-26.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Revenue growth at 13.9%, revenue up to ₹39.67 cr in FY25.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389120"/>
            <a:ext cx="402336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B0082"/>
                </a:solidFill>
                <a:latin typeface="Arial"/>
              </a:defRPr>
            </a:pPr>
            <a:r>
              <a:t>Market Opportunity</a:t>
            </a:r>
          </a:p>
          <a:p>
            <a:pPr>
              <a:spcBef>
                <a:spcPts val="300"/>
              </a:spcBef>
              <a:defRPr sz="1000">
                <a:solidFill>
                  <a:srgbClr val="323232"/>
                </a:solidFill>
                <a:latin typeface="Arial"/>
              </a:defRPr>
            </a:pPr>
            <a:r>
              <a:t>• IT Services is expected to grow at 8-10% (2024-2028) CAGR, driven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808080"/>
                </a:solidFill>
              </a:defRPr>
            </a:pPr>
            <a:r>
              <a:t>Strictly Private &amp; Confidential – Kelp Strategic Partners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