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4B0082"/>
                </a:solidFill>
              </a:defRPr>
            </a:pPr>
            <a:r>
              <a:t>Revenue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dPt>
            <c:idx val="6"/>
            <c:spPr>
              <a:solidFill>
                <a:srgbClr val="4B0082"/>
              </a:solidFill>
            </c:spPr>
          </c:dPt>
          <c:dPt>
            <c:idx val="7"/>
            <c:spPr>
              <a:solidFill>
                <a:srgbClr val="4B0082"/>
              </a:solidFill>
            </c:spPr>
          </c:dPt>
          <c:dPt>
            <c:idx val="8"/>
            <c:spPr>
              <a:solidFill>
                <a:srgbClr val="4B0082"/>
              </a:solidFill>
            </c:spPr>
          </c:dPt>
          <c:dPt>
            <c:idx val="9"/>
            <c:spPr>
              <a:solidFill>
                <a:srgbClr val="4B0082"/>
              </a:solidFill>
            </c:spPr>
          </c:dPt>
          <c:dPt>
            <c:idx val="10"/>
            <c:spPr>
              <a:solidFill>
                <a:srgbClr val="4B0082"/>
              </a:solidFill>
            </c:spPr>
          </c:dPt>
          <c:dPt>
            <c:idx val="11"/>
            <c:spPr>
              <a:solidFill>
                <a:srgbClr val="4B0082"/>
              </a:solidFill>
            </c:spPr>
          </c:dPt>
          <c:cat>
            <c:strRef>
              <c:f>Sheet1!$A$2:$A$13</c:f>
              <c:strCache>
                <c:ptCount val="12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  <c:pt idx="8">
                  <c:v>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111.4889</c:v>
                </c:pt>
                <c:pt idx="1">
                  <c:v>164.81099999999998</c:v>
                </c:pt>
                <c:pt idx="2">
                  <c:v>166.7026</c:v>
                </c:pt>
                <c:pt idx="3">
                  <c:v>169.0993</c:v>
                </c:pt>
                <c:pt idx="4">
                  <c:v>173.6474</c:v>
                </c:pt>
                <c:pt idx="5">
                  <c:v>186.31939999999997</c:v>
                </c:pt>
                <c:pt idx="6">
                  <c:v>171.167</c:v>
                </c:pt>
                <c:pt idx="7">
                  <c:v>131.424</c:v>
                </c:pt>
                <c:pt idx="8">
                  <c:v>148.994</c:v>
                </c:pt>
                <c:pt idx="9">
                  <c:v>172.317</c:v>
                </c:pt>
                <c:pt idx="10">
                  <c:v>169.799</c:v>
                </c:pt>
                <c:pt idx="11">
                  <c:v>151.001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4B0082"/>
                </a:solidFill>
              </a:defRPr>
            </a:pPr>
            <a:r>
              <a:t>EBITDA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dPt>
            <c:idx val="6"/>
            <c:spPr>
              <a:solidFill>
                <a:srgbClr val="4B0082"/>
              </a:solidFill>
            </c:spPr>
          </c:dPt>
          <c:dPt>
            <c:idx val="7"/>
            <c:spPr>
              <a:solidFill>
                <a:srgbClr val="4B0082"/>
              </a:solidFill>
            </c:spPr>
          </c:dPt>
          <c:dPt>
            <c:idx val="8"/>
            <c:spPr>
              <a:solidFill>
                <a:srgbClr val="4B0082"/>
              </a:solidFill>
            </c:spPr>
          </c:dPt>
          <c:dPt>
            <c:idx val="9"/>
            <c:spPr>
              <a:solidFill>
                <a:srgbClr val="4B0082"/>
              </a:solidFill>
            </c:spPr>
          </c:dPt>
          <c:dPt>
            <c:idx val="10"/>
            <c:spPr>
              <a:solidFill>
                <a:srgbClr val="4B0082"/>
              </a:solidFill>
            </c:spPr>
          </c:dPt>
          <c:dPt>
            <c:idx val="11"/>
            <c:spPr>
              <a:solidFill>
                <a:srgbClr val="4B0082"/>
              </a:solidFill>
            </c:spPr>
          </c:dPt>
          <c:cat>
            <c:strRef>
              <c:f>Sheet1!$A$2:$A$13</c:f>
              <c:strCache>
                <c:ptCount val="12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  <c:pt idx="8">
                  <c:v>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8.2432</c:v>
                </c:pt>
                <c:pt idx="1">
                  <c:v>13.92499999999999</c:v>
                </c:pt>
                <c:pt idx="2">
                  <c:v>13.084000000000021</c:v>
                </c:pt>
                <c:pt idx="3">
                  <c:v>9.593299999999987</c:v>
                </c:pt>
                <c:pt idx="4">
                  <c:v>7.709700000000001</c:v>
                </c:pt>
                <c:pt idx="5">
                  <c:v>9.429499999999994</c:v>
                </c:pt>
                <c:pt idx="6">
                  <c:v>3.5650000000000066</c:v>
                </c:pt>
                <c:pt idx="7">
                  <c:v>2.7149999999999967</c:v>
                </c:pt>
                <c:pt idx="8">
                  <c:v>3.4389999999999996</c:v>
                </c:pt>
                <c:pt idx="9">
                  <c:v>7.004000000000015</c:v>
                </c:pt>
                <c:pt idx="10">
                  <c:v>5.189999999999999</c:v>
                </c:pt>
                <c:pt idx="11">
                  <c:v>6.451000000000005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Business Profile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Allcargo The Company is a leading logistics and supply chain management company in India, specializing in express distribution, warehousing, and transportation solutions. The business model focuses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Products &amp; Services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Express Distribution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Supply Chain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Warehousing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Chemical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Automotive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Retail &amp; Fashion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Electronics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Founded: 1995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9919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Employees: 5,529 (5%)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4080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HQ: Western Pearl, 4th Floor, Survey No. 13(p), Kondapur South India Rangareddi TG 500084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822960"/>
          <a:ext cx="40233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822960"/>
          <a:ext cx="40233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5661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Financial KPIs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RoCE: 0.6%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ROE: -3.4%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5661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Key Shareholders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AllCargo Ltd.: 50.2%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Mr. Mukul Mahavir Agrawal: 5.4%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AllCargo Ltd.: 44.4%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Mukul Mahavir Agrawal: 4.8%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KWE Inc.: 2.9%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94560"/>
            <a:ext cx="402336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Key Strengths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Allcargo's FY25 net profit hits Rs 10 cr, up from Rs 4 cr.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Q4 2025 rev up by 9%, Net Profit at Rs 15 cr.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Gross margin +5%, Revenue+2% YoY (FY25)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Allcargo The Company covers 99% of India's districts, offering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EBITDA margins rose sharply, now at 5.5%.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94560"/>
            <a:ext cx="402336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Logistics growth forecasted at ~14% CAGR (FY23-FY28)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Company seeks hub expansion for efficient growth.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Gov't Plan unites 39 minsters for infra growth.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Logistics cost drop in India's GDP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Recent Milestones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Jun 2025: Quarterly net profit is ₹10 Cr, a 273.9% YoY growth 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Jun 2025: Launched 24-hour air delivery service to eight metro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Joined ONDC in June 2025.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Website redesign in February for better UX &amp; engagement.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389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Market Opportunity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Logistics &amp; Express Delivery is expected to grow at 10-12% (2024-2028)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