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presProps" Target="presProps.xml"/><Relationship Id="rId8" Type="http://schemas.openxmlformats.org/officeDocument/2006/relationships/viewProps" Target="viewProps.xml"/><Relationship Id="rId9" Type="http://schemas.openxmlformats.org/officeDocument/2006/relationships/theme" Target="theme/theme1.xml"/><Relationship Id="rId10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Revenue &amp; EBITDA Trend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Revenue (₹ Cr)</c:v>
                </c:pt>
              </c:strCache>
            </c:strRef>
          </c:tx>
          <c:spPr>
            <a:solidFill>
              <a:srgbClr val="4B0082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2.82154</c:v>
                </c:pt>
                <c:pt idx="1">
                  <c:v>4.70686</c:v>
                </c:pt>
                <c:pt idx="2">
                  <c:v>7.83116</c:v>
                </c:pt>
                <c:pt idx="3">
                  <c:v>10.864</c:v>
                </c:pt>
                <c:pt idx="4">
                  <c:v>13.743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 (₹ Cr)</c:v>
                </c:pt>
              </c:strCache>
            </c:strRef>
          </c:tx>
          <c:spPr>
            <a:solidFill>
              <a:srgbClr val="00CED1"/>
            </a:solidFill>
          </c:spPr>
          <c:dLbls>
            <c:txPr>
              <a:bodyPr/>
              <a:lstStyle/>
              <a:p>
                <a:pPr>
                  <a:defRPr sz="800">
                    <a:solidFill>
                      <a:srgbClr val="323232"/>
                    </a:solidFill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Sheet1!$A$2:$A$6</c:f>
              <c:strCache>
                <c:ptCount val="5"/>
                <c:pt idx="0">
                  <c:v>FY21</c:v>
                </c:pt>
                <c:pt idx="1">
                  <c:v>FY22</c:v>
                </c:pt>
                <c:pt idx="2">
                  <c:v>FY23</c:v>
                </c:pt>
                <c:pt idx="3">
                  <c:v>FY24</c:v>
                </c:pt>
                <c:pt idx="4">
                  <c:v>FY25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1.21413</c:v>
                </c:pt>
                <c:pt idx="1">
                  <c:v>2.0142900000000004</c:v>
                </c:pt>
                <c:pt idx="2">
                  <c:v>3.2857300000000005</c:v>
                </c:pt>
                <c:pt idx="3">
                  <c:v>4.699999999999999</c:v>
                </c:pt>
                <c:pt idx="4">
                  <c:v>4.889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tx>
        <c:rich>
          <a:bodyPr/>
          <a:lstStyle/>
          <a:p>
            <a:pPr>
              <a:defRPr sz="1200" b="1">
                <a:solidFill>
                  <a:srgbClr val="323232"/>
                </a:solidFill>
                <a:latin typeface="Arial"/>
              </a:defRPr>
            </a:pPr>
            <a:r>
              <a:t>Margin Analysis</a:t>
            </a:r>
          </a:p>
        </c:rich>
      </c:tx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Margin Split</c:v>
                </c:pt>
              </c:strCache>
            </c:strRef>
          </c:tx>
          <c:dPt>
            <c:idx val="0"/>
            <c:spPr>
              <a:solidFill>
                <a:srgbClr val="4B0082"/>
              </a:solidFill>
            </c:spPr>
          </c:dPt>
          <c:dPt>
            <c:idx val="1"/>
            <c:spPr>
              <a:solidFill>
                <a:srgbClr val="C8C8C8"/>
              </a:solidFill>
            </c:spPr>
          </c:dPt>
          <c:cat>
            <c:strRef>
              <c:f>Sheet1!$A$2:$A$3</c:f>
              <c:strCache>
                <c:ptCount val="2"/>
                <c:pt idx="0">
                  <c:v>EBITDA %</c:v>
                </c:pt>
                <c:pt idx="1">
                  <c:v>Other Costs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35.57447427781416</c:v>
                </c:pt>
                <c:pt idx="1">
                  <c:v>64.42552572218584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50"/>
      </c:doughnutChart>
    </c:plotArea>
    <c:legend>
      <c:legendPos val="b"/>
      <c:layout/>
      <c:overlay val="0"/>
      <c:txPr>
        <a:bodyPr/>
        <a:lstStyle/>
        <a:p>
          <a:pPr>
            <a:defRPr sz="900">
              <a:latin typeface="Arial"/>
            </a:defRPr>
          </a:pPr>
        </a:p>
      </c:txPr>
    </c:legend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133EDF-1014-EFA6-5DC1-2FAE2609D3F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F73CBBC-7069-583C-C506-310C0FC4A24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493A4CC-A7C6-F92D-CAF5-FC1ED6EF2B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74EFBB-C0CC-7072-CA6F-6AD55E3F1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4AB021B-77C3-41AE-81DA-E3E529A04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1881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B94C7-91D3-DDCB-07B6-0EEB95565C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3DD00-B514-2B45-8C00-A048AAF04B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30FD51-408E-DC37-08B0-91A4EFA2CE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F1D217-953B-A86E-F34A-6D33995773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63F005A-0059-4D16-D4AD-2EE40E7D21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80918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39ECFC-4552-3B1E-669C-DEB13F8ADC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BB7C15F-6609-6F47-4EAC-0924C5C9C5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DBA473-7E25-2095-29A5-18704DB058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8729A7-A2E7-2A22-54E7-1832783787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2D4523-628A-8A6D-244B-E8B014547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9553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FB93F1-34A8-37A5-264E-86D0F442C97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E1F2FC-D4AF-A3A1-F940-798EE46FAB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99DB1C9-B68F-9CDB-6E5A-58460C89CF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789075A-6CF5-A3CD-B310-78BC89B564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40C3D4-1E9D-CCB0-AAEC-9A47E0319B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B911A5B-B1E6-DAFC-988E-C057AB361D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513540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A68450-9520-AC44-084B-D1FC8BFAD7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D63C6CB-E72B-0931-2A34-4571CFF8E8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DFDCB3-4263-DDE3-9DF3-BE8F5CE399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5BF410-3399-BE02-28C5-45393E8073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53500D-BF81-CD9F-7108-7026A2D8B8A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23361A3-7DDC-7F42-B9B1-8AD2B61BE8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C6659B-B94E-4466-9BB9-E6E64F2BB2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3BD5CA3-B3C3-DC74-4384-80593BA9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6307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E72909-F38B-153D-D158-1199EABF0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86E500-DEB1-E3ED-6E24-CA18474F0A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AE6605-ACA8-BC0B-4103-DEFBA4FBA8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DE7D5E-F76C-1F60-AD52-6242F3DCC2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37133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3F1C204-31C7-928E-431C-1C48FD029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B533DE8-275C-38DA-951C-44BFAED667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0E918D-8845-CD5C-A241-BE69AF5A6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5217768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92C8-C6D4-C2B8-D26E-01BD39C32F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D2F1-AEA3-6873-34D7-75EA827B14C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728528C-856A-01AC-6C99-61666A64494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AC478D-DC41-D92A-73CD-7BC08CFD7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44FAE4-AE3A-8115-7633-FC675B024C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E8398F-CCDC-9828-24B1-296E08D750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289209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200867-D02D-AABD-72DB-B4548636CC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43B5F1-E014-008A-0344-AAAF58A03C5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AE53CE-5E0C-5CFB-1747-4BC55825F4D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D6EBB35-3DA7-58FA-1251-363A8E2636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10BE52-18CF-F7A6-9EAC-2F23C473C50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30B60-0C68-A69A-5472-5724A997DE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877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F8197E-0F47-3C80-0060-C0C5F06BBE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1081940-6AB5-9EB7-24B1-24471D1C040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C75F265-15E0-8971-3711-C74355B487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32531D-B644-6353-A2BC-B41BCE78CF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889D5CB-5DA5-C8A5-BDFA-1B98A95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81084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F2774AF-5179-CA99-6013-E5DC9FB2CB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FD24EAC-5AF9-916E-F8C8-82DAE34C8B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66BFCA3-68A7-C0E6-AB00-02F7B388C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B1B066-22FC-3E3B-21F3-4FA31F8394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BAEFBD-BAF5-E54B-8474-B505436BFB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4283029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0ED0E0-3829-E7F4-3550-077DC2B931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509C21D-4B89-42A2-C4FC-ADD1C1AF9F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E4E6AD4-F0A3-2A37-DF0B-42BA0F97210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2DEEA7A-9C74-42C8-A8F8-4C56A046C36C}" type="datetimeFigureOut">
              <a:rPr lang="en-IN" smtClean="0"/>
              <a:t>04-02-2026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1603F33-1392-C4CC-FF48-9D9E4BB10BA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99432D2-7FF3-1BA7-81D1-403C8FD642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6C4410-C114-4AF3-A1C5-C8DCC7D6388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128342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9193D5-6DA4-79E3-FE30-E4A56FC876B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0193FF-964E-1513-B42B-85DFFC488DE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/>
              <a:t>Kaisa </a:t>
            </a:r>
            <a:r>
              <a:rPr lang="en-IN" dirty="0" err="1"/>
              <a:t>hai</a:t>
            </a:r>
            <a:r>
              <a:rPr lang="en-IN" dirty="0"/>
              <a:t> </a:t>
            </a:r>
            <a:r>
              <a:rPr lang="en-IN" dirty="0" err="1"/>
              <a:t>vro</a:t>
            </a: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Technology Platform &amp; Services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Overview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India Limited is a prominent software development company special...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Products &amp; Services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AI ML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Cross Platform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128016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Industries Served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Big Data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Machine Learning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Odoo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Devops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Mobile Development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Certifications &amp; Awards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 Certified Administrator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 Certified Advanced Administrator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Facilities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Corporate Facilities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Noida, Uttar Pradesh, India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Western India, Maharashtra, India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3474720"/>
            <a:ext cx="2560320" cy="201168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Global Presence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USA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Employees: 831 (10%)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Founded: 2014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5943600"/>
            <a:ext cx="2651760" cy="457200"/>
          </a:xfrm>
          <a:prstGeom prst="rect">
            <a:avLst/>
          </a:prstGeom>
          <a:solidFill>
            <a:srgbClr val="00CED1"/>
          </a:solidFill>
        </p:spPr>
        <p:txBody>
          <a:bodyPr wrap="non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t>HQ: 317/276, Second floor, Lane no.3, Mehrauli Road, Saidulajab, Saket, New Northern India South Northern India DL 110030 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29346091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493ADC-D2E4-F2B3-9D26-BCFBC3E77C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Picture Placeholder 2" descr="pic_!&#10;">
            <a:extLst>
              <a:ext uri="{FF2B5EF4-FFF2-40B4-BE49-F238E27FC236}">
                <a16:creationId xmlns:a16="http://schemas.microsoft.com/office/drawing/2014/main" id="{D2CDF99E-C460-76B1-BDD6-21B1F19B53ED}"/>
              </a:ext>
            </a:extLst>
          </p:cNvPr>
          <p:cNvSpPr>
            <a:spLocks noGrp="1"/>
          </p:cNvSpPr>
          <p:nvPr>
            <p:ph type="pic" idx="1"/>
          </p:nvPr>
        </p:nvSpPr>
        <p:spPr/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D58E8EB-FB1B-AB9E-1382-B5E4BDD07042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Growth Metrics &amp; Unit Economics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457200" y="1188720"/>
          <a:ext cx="4114800" cy="2743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4754880" y="1188720"/>
          <a:ext cx="3657600" cy="27432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4114800"/>
            <a:ext cx="393192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Revenue Trend (₹ Cr)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FY21: ₹2.8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FY22: ₹4.7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FY23: ₹7.8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FY24: ₹10.9 Cr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4114800"/>
            <a:ext cx="393192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EBITDA (₹ Cr)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FY23: ₹3.3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FY24: ₹4.7 Cr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FY25: ₹4.9 Cr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17246569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62BFDE-AB15-AD05-CD22-03C422C78B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D9A713-9564-3730-E236-B545581720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4B0082"/>
                </a:solidFill>
                <a:latin typeface="Arial"/>
              </a:defRPr>
            </a:pPr>
            <a:r>
              <a:t>Investment Highlights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0" y="182880"/>
            <a:ext cx="10972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800" b="1">
                <a:solidFill>
                  <a:srgbClr val="4B0082"/>
                </a:solidFill>
                <a:latin typeface="Arial"/>
              </a:defRPr>
            </a:pPr>
            <a:r>
              <a:t>KELP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56032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Strong 68% revenue CAGR from FY2020 to FY2025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91840" y="1097280"/>
            <a:ext cx="256032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Healthy 35.6% EBITDA margin in FY2025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097280"/>
            <a:ext cx="2560320" cy="1097280"/>
          </a:xfrm>
          <a:prstGeom prst="rect">
            <a:avLst/>
          </a:prstGeom>
          <a:solidFill>
            <a:srgbClr val="4B0082"/>
          </a:solidFill>
        </p:spPr>
        <p:txBody>
          <a:bodyPr wrap="squar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Aug 2025: Recognized as Top SME Businesses of the Year 20...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Strengths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Company' FY25 revenue grew 26% YoY, showing healthy execution amidst macr...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secured a $600,000 order in May 2025 from a US research firm.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The Company won 'Odoo Best Partner India 2025'.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Growth Opportunities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India's IT services market is expected to grow at a CAGR of 13% from 2025 to 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India IT spending is projected to increase 11.2% in 2025, totaling almost $16...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Global blockchain market projected to grow at a CAGR of 68% through 2030.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23774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Recent Milestones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Aug 2025: Recognized as Top SME Businesses of the Year 2025 in Technology Sol...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Oct 2025: Honored as “Odoo Best Partner India 2025” at Odoo Experience.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2025: Board declared a second interim dividend of ₹5 per share for FY 2025–26.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Future Growth Plans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Growth and Scalability: Targeted revenue growth of 20% for the year with a st...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Product or Service Expansion: The Company is expanding its product offerings,...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Geographical Expansion: The Company has delivery centers in India, the USA, a...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Strategic Partners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Salesforce, Odoo, Databricks, Snowflake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4206240"/>
            <a:ext cx="2743200" cy="1645920"/>
          </a:xfrm>
          <a:prstGeom prst="rect">
            <a:avLst/>
          </a:prstGeom>
          <a:solidFill>
            <a:srgbClr val="F8F9FC"/>
          </a:solidFill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 b="1">
                <a:solidFill>
                  <a:srgbClr val="4B0082"/>
                </a:solidFill>
                <a:latin typeface="Arial"/>
              </a:defRPr>
            </a:pPr>
            <a:r>
              <a:t>Key Clients</a:t>
            </a:r>
          </a:p>
          <a:p>
            <a:pPr>
              <a:spcBef>
                <a:spcPts val="200"/>
              </a:spcBef>
              <a:defRPr sz="900">
                <a:solidFill>
                  <a:srgbClr val="323232"/>
                </a:solidFill>
                <a:latin typeface="Arial"/>
              </a:defRPr>
            </a:pPr>
            <a:r>
              <a:t>• Agentforce, Mind AI, Luxury Hotel Chain, Retail Brand, Logistics Company, Man...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0" y="6492240"/>
            <a:ext cx="9144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323232"/>
                </a:solidFill>
                <a:latin typeface="Arial"/>
              </a:defRPr>
            </a:pPr>
            <a:r>
              <a:t>Strictly Private &amp; Confidential – Prepared by Kelp M&amp;A Team</a:t>
            </a:r>
          </a:p>
        </p:txBody>
      </p:sp>
    </p:spTree>
    <p:extLst>
      <p:ext uri="{BB962C8B-B14F-4D97-AF65-F5344CB8AC3E}">
        <p14:creationId xmlns:p14="http://schemas.microsoft.com/office/powerpoint/2010/main" val="2592984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BD4B38-F97A-CB49-1280-DE334583468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0F4E03-C940-8DF0-6083-A972A3083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4012478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FF9E99-1F0F-B845-C728-B1137F5273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6FA4A9-663B-BA0F-F268-C1D9BEA30D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1777517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</Words>
  <Application>Microsoft Office PowerPoint</Application>
  <PresentationFormat>Widescreen</PresentationFormat>
  <Paragraphs>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Test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Ansh Savla</dc:creator>
  <cp:lastModifiedBy>Ansh Savla</cp:lastModifiedBy>
  <cp:revision>1</cp:revision>
  <dcterms:created xsi:type="dcterms:W3CDTF">2026-02-03T18:42:31Z</dcterms:created>
  <dcterms:modified xsi:type="dcterms:W3CDTF">2026-02-03T18:42:37Z</dcterms:modified>
</cp:coreProperties>
</file>